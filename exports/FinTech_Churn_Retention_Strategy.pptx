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Predicting Credit Card Default Risk &amp; Optimizing Retention Spend</a:t>
            </a:r>
          </a:p>
          <a:p>
            <a:pPr>
              <a:spcBef>
                <a:spcPts val="1000"/>
              </a:spcBef>
              <a:defRPr sz="2000">
                <a:solidFill>
                  <a:srgbClr val="0EA5E9"/>
                </a:solidFill>
              </a:defRPr>
            </a:pPr>
            <a:r>
              <a:t>Prioritizing retention spend across 30,000 real credit card accounts (UCI Dataset).</a:t>
            </a:r>
          </a:p>
          <a:p>
            <a:br/>
            <a:pPr>
              <a:spcBef>
                <a:spcPts val="1500"/>
              </a:spcBef>
              <a:defRPr sz="1600" b="1">
                <a:solidFill>
                  <a:srgbClr val="10B981"/>
                </a:solidFill>
              </a:defRPr>
            </a:pPr>
            <a:r>
              <a:t>Headline Results: 247% – 593% Net ROI Range  •  $246k – $592k Net Profit Saved ($100k Budget Cap)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FINTECH CREDIT RISK &amp; RETENTION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Business Problem: Unit Economics &amp; Capital Allocation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291840" cy="4937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Revenue Mechanics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• Issuers earn ~1.5%–2.5% per swipe in interchange fees plus annual card charges.</a:t>
            </a:r>
            <a:br/>
            <a:br/>
            <a:r>
              <a:t>• High-limit and high-spending cardholders generate significant portfolio net margin.</a:t>
            </a:r>
            <a:br/>
            <a:br/>
            <a:r>
              <a:t>• Customer churn erases years of accumulated interchange and fee margin.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80160"/>
            <a:ext cx="3291840" cy="4937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The Budget Waste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• Generic retention offers (blanket credits) waste capital on low-risk cardholders.</a:t>
            </a:r>
            <a:br/>
            <a:br/>
            <a:r>
              <a:t>• Low-LTV accounts absorb retention spend without delivering positive ROI.</a:t>
            </a:r>
            <a:br/>
            <a:br/>
            <a:r>
              <a:t>• With a fixed budget, which accounts do you prioritize to maximize net return?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The Strategy Solution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1. ML Risk Scoring: Identify high-risk accounts using behavioral time-series.</a:t>
            </a:r>
            <a:br/>
            <a:br/>
            <a:r>
              <a:t>2. TreeSHAP Root Cause: Pinpoint friction (delinquency vs utilization vs fees).</a:t>
            </a:r>
            <a:br/>
            <a:br/>
            <a:r>
              <a:t>3. Knapsack ROI Optimizer: Allocate budget by net profit density.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FINTECH CREDIT RISK &amp; RETENTION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Data Pipeline &amp; Analytics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937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From 30,000 Real Statements to Decision-Support Engine</a:t>
            </a:r>
          </a:p>
          <a:p>
            <a:br/>
            <a:pPr>
              <a:defRPr sz="1400">
                <a:solidFill>
                  <a:srgbClr val="F1F5F9"/>
                </a:solidFill>
              </a:defRPr>
            </a:pPr>
            <a:r>
              <a:t>[30,000 Real UCI Accounts]  ──&gt;  [6-Month Statement History]  ──&gt;  [Engineered Features]</a:t>
            </a:r>
            <a:br/>
            <a:r>
              <a:t>                                                             • 6m Utilization Trend</a:t>
            </a:r>
            <a:br/>
            <a:r>
              <a:t>                                                             • Pay-to-Bill Ratio</a:t>
            </a:r>
            <a:br/>
            <a:r>
              <a:t>                                                             • Delinquency Escalation</a:t>
            </a:r>
            <a:br/>
            <a:r>
              <a:t>                                                             • Deterministic RFM Matrix</a:t>
            </a:r>
            <a:br/>
            <a:br/>
            <a:r>
              <a:t>       ┌──────────────────────────────────────────────────────────────┘</a:t>
            </a:r>
            <a:br/>
            <a:r>
              <a:t>       ▼</a:t>
            </a:r>
            <a:br/>
            <a:r>
              <a:t>[XGBoost Churn/Default Model] ──&gt; [TreeSHAP Root-Cause Diagnostics] ──&gt; [Knapsack ROI Optimization Engine]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FINTECH CREDIT RISK &amp; RETENTION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Machine Learning Performance &amp; TreeSHAP Drivers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Model Performance Metrics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• Fair Lending Practice: Protected demographic attributes (Age, Sex, Marriage, Education) excluded from model inputs.</a:t>
            </a:r>
            <a:br/>
            <a:br/>
            <a:r>
              <a:t>• XGBoost Test ROC-AUC: 0.7789 | PR-AUC: 0.5618</a:t>
            </a:r>
            <a:br/>
            <a:br/>
            <a:r>
              <a:t>• Baseline Logistic Regression Test AUC: 0.7670</a:t>
            </a:r>
            <a:br/>
            <a:br/>
            <a:r>
              <a:t>• Top 20% Risk Decile Capture: 51.66% on a held-out test 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Top Empirical TreeSHAP Drivers</a:t>
            </a:r>
          </a:p>
          <a:p>
            <a:br/>
            <a:pPr>
              <a:defRPr sz="1200">
                <a:solidFill>
                  <a:srgbClr val="F1F5F9"/>
                </a:solidFill>
              </a:defRPr>
            </a:pPr>
            <a:r>
              <a:t>1. max_delay_months: Maximum delinquency status across statement window.</a:t>
            </a:r>
            <a:br/>
            <a:br/>
            <a:r>
              <a:t>2. days_since_last_txn: Inactivity recency proxy.</a:t>
            </a:r>
            <a:br/>
            <a:br/>
            <a:r>
              <a:t>3. support_friction_score: Delinquency escalation composite score.</a:t>
            </a:r>
            <a:br/>
            <a:br/>
            <a:r>
              <a:t>4. current_utilization: Credit line utilization ratio.</a:t>
            </a:r>
            <a:br/>
            <a:br/>
            <a:r>
              <a:t>*Note: Delinquency &amp; utilization signals overlap heavily (repayment delay dominates default risk).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FINTECH CREDIT RISK &amp; RETENTION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LTV Economics Bridge &amp; Offer Catalog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Mathematical LTV Equation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LTV = Annual Net Margin × Min( 3 Yrs, 1 / (Churn Prob + Discount) )</a:t>
            </a:r>
            <a:br/>
            <a:br/>
            <a:r>
              <a:t>• Net Margin (USD) = (Interchange + Fees + Interest) - (Rewards + Servicing)</a:t>
            </a:r>
            <a:br/>
            <a:br/>
            <a:r>
              <a:t>• Risk Score → Expected LTV Margin Loss → Targeted Offer Selection</a:t>
            </a:r>
            <a:br/>
            <a:br/>
            <a:r>
              <a:t>• Prevents spending an offer whose cost exceeds remaining LTV (e.g. illustrative $150 offer vs $80 LTV).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4-Offer Retention Catalog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1. Annual Fee Waiver: Waives $95–$495 fee for fee-dissatisfied users.</a:t>
            </a:r>
            <a:br/>
            <a:r>
              <a:t>2. 2x Points Boost: 1.5% spend boost for active monthly spenders.</a:t>
            </a:r>
            <a:br/>
            <a:r>
              <a:t>3. 0% APR Cut / Relief: Interest margin discount for revolvers.</a:t>
            </a:r>
            <a:br/>
            <a:r>
              <a:t>4. VIP Perks &amp; Concierge: $150 perks for Platinum &amp; Black cardholders.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FINTECH CREDIT RISK &amp; RETENTION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ROI Simulation Engine Results (Knapsack Density Optimization)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Portfolio Performance Breakdown ($100k Budget Cap)</a:t>
            </a:r>
          </a:p>
          <a:p>
            <a:br/>
            <a:pPr>
              <a:defRPr sz="1500">
                <a:solidFill>
                  <a:srgbClr val="F1F5F9"/>
                </a:solidFill>
              </a:defRPr>
            </a:pPr>
            <a:r>
              <a:t>• Total Portfolio Accounts Evaluated:    30,000 accounts</a:t>
            </a:r>
            <a:br/>
            <a:r>
              <a:t>• Campaign Retention Budget Cap:       $100,000.00</a:t>
            </a:r>
            <a:br/>
            <a:r>
              <a:t>• Targeted High-Risk Accounts:          752 / 30,000 (Top 2.5% of portfolio by ROI density)</a:t>
            </a:r>
            <a:br/>
            <a:r>
              <a:t>• Gross Retained LTV Saved:             $692,132.81</a:t>
            </a:r>
            <a:br/>
            <a:r>
              <a:t>• Net Profit Saved (Base Scenario):     $592,312.81 (593.4% ROI)</a:t>
            </a:r>
            <a:br/>
            <a:r>
              <a:t>• Net Profit Saved (50% Haircut Sens):  $246,246.41 (246.7% ROI)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FINTECH CREDIT RISK &amp; RETENTION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Operational Next Steps &amp; Strategic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Action Plan for FinTech Product &amp; Growth Teams</a:t>
            </a:r>
          </a:p>
          <a:p>
            <a:br/>
            <a:pPr>
              <a:defRPr sz="1400">
                <a:solidFill>
                  <a:srgbClr val="F1F5F9"/>
                </a:solidFill>
              </a:defRPr>
            </a:pPr>
            <a:r>
              <a:t>1. Pilot on the 752 Recommended Accounts: Deploy retention offers to the optimal ROI-density cohort with a randomized holdout control group.</a:t>
            </a:r>
            <a:br/>
            <a:br/>
            <a:r>
              <a:t>2. Replace Simulated Multipliers with Causal A/B Testing: Measure true empirical uplift and acceptance rates to replace scenario assumptions.</a:t>
            </a:r>
            <a:br/>
            <a:br/>
            <a:r>
              <a:t>3. Connect Financial Distress to True Attrition: Transition the target from payment default proxy to account-closure events as ledger data matures.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FINTECH CREDIT RISK &amp; RETENTION ANALYTICS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Streamlit Strategy Dashboard (app.py)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937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Operational Decision-Support App for Risk &amp; Product Managers</a:t>
            </a:r>
          </a:p>
          <a:p>
            <a:br/>
            <a:pPr>
              <a:defRPr sz="1400">
                <a:solidFill>
                  <a:srgbClr val="F1F5F9"/>
                </a:solidFill>
              </a:defRPr>
            </a:pPr>
            <a:r>
              <a:t>• Executive Portfolio Overview: Live metrics on at-risk revenue, churn deciles, and tier distributions.</a:t>
            </a:r>
            <a:br/>
            <a:br/>
            <a:r>
              <a:t>• Machine Learning &amp; TreeSHAP Inspector: Visualizing global feature contributions and model calibration.</a:t>
            </a:r>
            <a:br/>
            <a:br/>
            <a:r>
              <a:t>• Individual Account Lookup: Deep-dive into specific cardholders with automated offer suggestions.</a:t>
            </a:r>
            <a:br/>
            <a:br/>
            <a:r>
              <a:t>• What-If ROI Simulator: Real-time budget sliders to test portfolio campaign scenarios.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