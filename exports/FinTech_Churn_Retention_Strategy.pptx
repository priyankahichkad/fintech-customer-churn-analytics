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Predicting Credit Card Default Risk &amp; Optimizing Retention Spend</a:t>
            </a:r>
          </a:p>
          <a:p>
            <a:pPr>
              <a:spcBef>
                <a:spcPts val="1000"/>
              </a:spcBef>
              <a:defRPr sz="2000">
                <a:solidFill>
                  <a:srgbClr val="0EA5E9"/>
                </a:solidFill>
              </a:defRPr>
            </a:pPr>
            <a:r>
              <a:t>Prioritizing retention spend across 30,000 real credit card accounts (UCI Dataset).</a:t>
            </a:r>
          </a:p>
          <a:p>
            <a:br/>
            <a:pPr>
              <a:spcBef>
                <a:spcPts val="1500"/>
              </a:spcBef>
              <a:defRPr sz="1600" b="1">
                <a:solidFill>
                  <a:srgbClr val="10B981"/>
                </a:solidFill>
              </a:defRPr>
            </a:pPr>
            <a:r>
              <a:t>Headline Results: 593% Base Net ROI  •  $592k Net Profit Saved under $100k Budget Cap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The Business Problem: Unit Economics &amp; Capital Allocation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32918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Revenue Mechanics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Issuers earn ~1.5%–2.5% per swipe in interchange fees plus annual card charges.</a:t>
            </a:r>
            <a:br/>
            <a:br/>
            <a:r>
              <a:t>• High-spending and high-limit cardholders drive over 60% of total portfolio net margin.</a:t>
            </a:r>
            <a:br/>
            <a:br/>
            <a:r>
              <a:t>• Acquiring a replacement customer costs $250–$600 (CAC).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280160"/>
            <a:ext cx="32918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The Budget Waste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Credit default/attrition erases years of accumulated interchange margin.</a:t>
            </a:r>
            <a:br/>
            <a:br/>
            <a:r>
              <a:t>• Generic retention offers (blanket credits) waste capital on low-risk cardholders.</a:t>
            </a:r>
            <a:br/>
            <a:br/>
            <a:r>
              <a:t>• With a fixed budget, which accounts do you prioritize to maximize net return?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280160"/>
            <a:ext cx="338328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The Strategy Solution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1. ML Default Risk Scoring: Identify high-risk accounts 60-90 days early.</a:t>
            </a:r>
            <a:br/>
            <a:br/>
            <a:r>
              <a:t>2. SHAP Trigger Diagnostics: Pinpoint friction (delinquency vs utilization vs fees).</a:t>
            </a:r>
            <a:br/>
            <a:br/>
            <a:r>
              <a:t>3. Knapsack ROI Optimizer: Allocate budget by net profit density.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Data Pipeline &amp; Analytics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From 30,000 Real Statements to Decision-Support Engine</a:t>
            </a:r>
          </a:p>
          <a:p>
            <a:br/>
            <a:pPr>
              <a:defRPr sz="1400">
                <a:solidFill>
                  <a:srgbClr val="F1F5F9"/>
                </a:solidFill>
              </a:defRPr>
            </a:pPr>
            <a:r>
              <a:t>[30,000 Real UCI Accounts]  ──&gt;  [6-Month Statement History]  ──&gt;  [Engineered Features]</a:t>
            </a:r>
            <a:br/>
            <a:r>
              <a:t>                                                             • 6m Utilization Trend</a:t>
            </a:r>
            <a:br/>
            <a:r>
              <a:t>                                                             • Pay-to-Bill Ratio</a:t>
            </a:r>
            <a:br/>
            <a:r>
              <a:t>                                                             • Delinquency Escalation</a:t>
            </a:r>
            <a:br/>
            <a:r>
              <a:t>                                                             • Deterministic RFM Matrix</a:t>
            </a:r>
            <a:br/>
            <a:br/>
            <a:r>
              <a:t>       ┌──────────────────────────────────────────────────────────────┘</a:t>
            </a:r>
            <a:br/>
            <a:r>
              <a:t>       ▼</a:t>
            </a:r>
            <a:br/>
            <a:r>
              <a:t>[XGBoost Churn/Default Model] ──&gt; [SHAP Root-Cause Diagnostics] ──&gt; [Knapsack ROI Optimization Engine]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Machine Learning Performance &amp; SHAP Drivers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Model Accuracy Metrics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ECOA Fair Lending: Age &amp; protected demographics explicitly excluded.</a:t>
            </a:r>
            <a:br/>
            <a:br/>
            <a:r>
              <a:t>• XGBoost Test ROC-AUC: 0.7789 | PR-AUC: 0.5618</a:t>
            </a:r>
            <a:br/>
            <a:br/>
            <a:r>
              <a:t>• Top 20% Risk Decile Capture: 51.66% on Test Set</a:t>
            </a:r>
            <a:br/>
            <a:br/>
            <a:r>
              <a:t>• Enables hyper-targeted interventions without spamming low-risk cardholders.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Top SHAP Default Triggers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1. PAY_0 (Recent Repayment Delay): Strongest empirical default predictor.</a:t>
            </a:r>
            <a:br/>
            <a:br/>
            <a:r>
              <a:t>2. Current Utilization Ratio: High utilization (&gt;75%) signals debt stress.</a:t>
            </a:r>
            <a:br/>
            <a:br/>
            <a:r>
              <a:t>3. 6-Month Pay-to-Bill Ratio: Identifies revolvers paying minimum balance.</a:t>
            </a:r>
            <a:br/>
            <a:br/>
            <a:r>
              <a:t>4. Credit Limit (LIMIT_BAL): Dictates total potential LTV margin exposure.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The LTV Economics Bridge &amp; Offer Catalog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Mathematical LTV Equation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LTV = Annual Net Margin × Min( 3 Yrs, 1 / (Churn Prob + Discount) )</a:t>
            </a:r>
            <a:br/>
            <a:br/>
            <a:r>
              <a:t>• Net Margin (USD) = (Interchange + Fees + Interest) - (Rewards + Servicing)</a:t>
            </a:r>
            <a:br/>
            <a:br/>
            <a:r>
              <a:t>• Risk Score → Expected LTV Margin Loss → Targeted Offer Selection</a:t>
            </a:r>
            <a:br/>
            <a:br/>
            <a:r>
              <a:t>• Prevents spending $150 offer on an account with only $80 in remaining LTV.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4-Offer Retention Catalog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1. Annual Fee Waiver: Waives $50–$95 fee for fee-dissatisfied users.</a:t>
            </a:r>
            <a:br/>
            <a:r>
              <a:t>2. 2x Points Boost: 1.5% spend boost for active monthly spenders.</a:t>
            </a:r>
            <a:br/>
            <a:r>
              <a:t>3. 0% APR Cut / Relief: Interest margin discount for revolvers.</a:t>
            </a:r>
            <a:br/>
            <a:r>
              <a:t>4. VIP Perks &amp; Concierge: $150 perks for Platinum &amp; Black cardholders.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ROI Simulation Engine Results (Knapsack Density Optimization)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Portfolio Performance Breakdown ($100k Budget Cap)</a:t>
            </a:r>
          </a:p>
          <a:p>
            <a:br/>
            <a:pPr>
              <a:defRPr sz="1500">
                <a:solidFill>
                  <a:srgbClr val="F1F5F9"/>
                </a:solidFill>
              </a:defRPr>
            </a:pPr>
            <a:r>
              <a:t>• Total Portfolio Accounts Evaluated:    30,000 accounts</a:t>
            </a:r>
            <a:br/>
            <a:r>
              <a:t>• Campaign Retention Budget Cap:       $100,000.00</a:t>
            </a:r>
            <a:br/>
            <a:r>
              <a:t>• Targeted High-Risk Accounts:          752 / 30,000 (2.5%)</a:t>
            </a:r>
            <a:br/>
            <a:r>
              <a:t>• Gross Retained LTV Saved:             $692,132.81</a:t>
            </a:r>
            <a:br/>
            <a:r>
              <a:t>• Net Profit Saved (Base Scenario):     $592,312.81 (593.4% ROI)</a:t>
            </a:r>
            <a:br/>
            <a:r>
              <a:t>• Net Profit Saved (50% Sensitivity):   $246,246.41 (246.7% ROI)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Operational Next Steps &amp; Strategic Recommendations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Action Plan for FinTech Product &amp; Growth Teams</a:t>
            </a:r>
          </a:p>
          <a:p>
            <a:br/>
            <a:pPr>
              <a:defRPr sz="1500">
                <a:solidFill>
                  <a:srgbClr val="F1F5F9"/>
                </a:solidFill>
              </a:defRPr>
            </a:pPr>
            <a:r>
              <a:t>1. Pilot Top-Decile Campaign: Roll out automated offer dispatches to top 2 risk deciles.</a:t>
            </a:r>
            <a:br/>
            <a:br/>
            <a:r>
              <a:t>2. Replace Simulated Multipliers with Causal A/B Testing: Calibration of treatment effect assumptions against live production experimental data.</a:t>
            </a:r>
            <a:br/>
            <a:br/>
            <a:r>
              <a:t>3. Extend Model to True Attrition Data: Connect credit default signals to account-closure events when attrition logs become available.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Interactive Streamlit Strategy Dashboard (app.py)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Operational Decision-Support App for Risk &amp; Product Managers</a:t>
            </a:r>
          </a:p>
          <a:p>
            <a:br/>
            <a:pPr>
              <a:defRPr sz="1400">
                <a:solidFill>
                  <a:srgbClr val="F1F5F9"/>
                </a:solidFill>
              </a:defRPr>
            </a:pPr>
            <a:r>
              <a:t>• Executive Portfolio Overview: Live metrics on at-risk revenue, churn deciles, and tier distributions.</a:t>
            </a:r>
            <a:br/>
            <a:br/>
            <a:r>
              <a:t>• Machine Learning &amp; SHAP Inspector: Visualizing global feature contributions and model calibration.</a:t>
            </a:r>
            <a:br/>
            <a:br/>
            <a:r>
              <a:t>• Individual Account Lookup: Deep-dive into specific cardholders with automated offer suggestions.</a:t>
            </a:r>
            <a:br/>
            <a:br/>
            <a:r>
              <a:t>• What-If ROI Simulator: Real-time budget sliders to test portfolio campaign scenarios.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