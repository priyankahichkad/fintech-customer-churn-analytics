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FINTECH CREDIT CARD CHURN &amp; RETENTION ROI ENGINE</a:t>
            </a:r>
          </a:p>
          <a:p>
            <a:pPr>
              <a:spcBef>
                <a:spcPts val="1000"/>
              </a:spcBef>
              <a:defRPr sz="2000">
                <a:solidFill>
                  <a:srgbClr val="0EA5E9"/>
                </a:solidFill>
              </a:defRPr>
            </a:pPr>
            <a:r>
              <a:t>Predicting High-Value Cardholder Churn &amp; Simulating Targeted Retention Offer ROI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Target Roles: Data Analyst | Business Analyst | FinTech Product Manager</a:t>
            </a:r>
            <a:br/>
            <a:r>
              <a:t>Framework: RFM Segmentation • XGBoost &amp; SHAP • Unit Economics LTV/CAC • ROI Simulation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CHURN &amp; RETENTION ROI ENGINE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The Problem: Credit Card Interchange &amp; High-Value Churn Leakage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2918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Interchange Mechanics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Credit card issuers earn 1.5%–2.5% per swipe in interchange fees plus annual charges.</a:t>
            </a:r>
            <a:br/>
            <a:br/>
            <a:r>
              <a:t>• Top 10% high-spending cardholders generate over 60% of total portfolio net margin.</a:t>
            </a:r>
            <a:br/>
            <a:br/>
            <a:r>
              <a:t>• Acquiring a replacement cardholder costs $250–$600 (CAC).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280160"/>
            <a:ext cx="32918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The Churn Trap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High-spending cardholders churn silently after fee posting or support friction.</a:t>
            </a:r>
            <a:br/>
            <a:br/>
            <a:r>
              <a:t>• Generic retention offers (e.g., blanket $50 credits) waste budget on low-risk users.</a:t>
            </a:r>
            <a:br/>
            <a:br/>
            <a:r>
              <a:t>• Failure to tailor offers leads to negative campaign ROI and brand erosion.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280160"/>
            <a:ext cx="33832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The Solution Blueprint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1. ML Risk Scoring: XGBoost model identifying high-risk, high-value users.</a:t>
            </a:r>
            <a:br/>
            <a:br/>
            <a:r>
              <a:t>2. SHAP Root Cause: Pinpointing exact friction (fees vs support vs APR).</a:t>
            </a:r>
            <a:br/>
            <a:br/>
            <a:r>
              <a:t>3. LTV Offer Simulator: Math-driven offer allocation maximizing Net ROI.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CHURN &amp; RETENTION ROI ENGINE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Data Pipeline &amp; RFM Feature Engineering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Multi-Source Data Ingestion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Transaction Logs: Spend velocity (3m vs 12m ratio), swipe count.</a:t>
            </a:r>
            <a:br/>
            <a:r>
              <a:t>• Support &amp; Complaints: Escalations, ticket resolution delay.</a:t>
            </a:r>
            <a:br/>
            <a:r>
              <a:t>• Credit Bureau &amp; Utilization: Balance spikes, credit limit utilization.</a:t>
            </a:r>
            <a:br/>
            <a:r>
              <a:t>• Unit Economics: Annual fees, interchange yield, reward costs.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RFM &amp; Behavioral Feature Engineering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Recency (R): Days since last transaction (1–5 decile score).</a:t>
            </a:r>
            <a:br/>
            <a:r>
              <a:t>• Frequency (F): Monthly transaction volume.</a:t>
            </a:r>
            <a:br/>
            <a:r>
              <a:t>• Monetary (M): Average monthly spend.</a:t>
            </a:r>
            <a:br/>
            <a:r>
              <a:t>• Behavioral Indicators:</a:t>
            </a:r>
            <a:br/>
            <a:r>
              <a:t>  - Utilization Risk Flag (&gt;75% balance ratio)</a:t>
            </a:r>
            <a:br/>
            <a:r>
              <a:t>  - Inactivity Trend Flag (&lt;60% spend velocity)</a:t>
            </a:r>
            <a:br/>
            <a:r>
              <a:t>  - Support Friction Score (tickets + weighted complaints)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CHURN &amp; RETENTION ROI ENGINE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Predictive Churn Modeling: XGBoost vs Baseline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2286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Model Accuracy Metrics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XGBoost Classifier ROC-AUC: 0.985+</a:t>
            </a:r>
            <a:br/>
            <a:r>
              <a:t>• Baseline Logistic Regression ROC-AUC: ~0.840</a:t>
            </a:r>
            <a:br/>
            <a:r>
              <a:t>• Top 20% Risk Decile Capture Rate: &gt;88% of all true churners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840480"/>
            <a:ext cx="5120640" cy="23774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Precision @ Decile Performance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Decile 1 (Top 10% Risk): &gt;90% Precision</a:t>
            </a:r>
            <a:br/>
            <a:r>
              <a:t>• Enables hyper-targeted retention campaigns without spamming loyal, low-risk cardholders.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Key Technical Highlights</a:t>
            </a:r>
          </a:p>
          <a:p>
            <a:br/>
            <a:pPr>
              <a:defRPr sz="1400">
                <a:solidFill>
                  <a:srgbClr val="F1F5F9"/>
                </a:solidFill>
              </a:defRPr>
            </a:pPr>
            <a:r>
              <a:t>• Stratified K-Fold Cross Validation prevents data leakage.</a:t>
            </a:r>
            <a:br/>
            <a:r>
              <a:t>• Class Imbalance Handling ensures robust probability calibration.</a:t>
            </a:r>
            <a:br/>
            <a:r>
              <a:t>• Direct integration with SHAP TreeExplainer for instantaneous local feature attributions.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CHURN &amp; RETENTION ROI ENGINE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SHAP Interpretability: Pinpointing Top Churn Triggers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2918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Trigger 1: Inactivity &amp; Recency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Days since last transaction and spend velocity drop (&lt;0.6x) are primary signals of engagement loss.</a:t>
            </a:r>
            <a:br/>
            <a:r>
              <a:t>• Action: Automated points boost offer.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280160"/>
            <a:ext cx="32918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Trigger 2: Fee vs Spend Friction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High annual fees ($95–$495) on accounts with dropping spend create strong fee dissatisfaction.</a:t>
            </a:r>
            <a:br/>
            <a:r>
              <a:t>• Action: Annual Fee Waiver offer.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280160"/>
            <a:ext cx="33832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Trigger 3: Support Friction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Unresolved complaint tickets &amp; high support calls trigger immediate competitor balance transfers.</a:t>
            </a:r>
            <a:br/>
            <a:r>
              <a:t>• Action: Priority VIP concierge routing.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CHURN &amp; RETENTION ROI ENGINE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Unit Economics &amp; Customer Lifetime Value (LTV)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Mathematical LTV &amp; Net Margin Formulation</a:t>
            </a:r>
          </a:p>
          <a:p>
            <a:br/>
            <a:pPr>
              <a:defRPr sz="1400">
                <a:solidFill>
                  <a:srgbClr val="F1F5F9"/>
                </a:solidFill>
              </a:defRPr>
            </a:pPr>
            <a:r>
              <a:t>Annual Net Margin = (Interchange Rev + Annual Fee + Interest Paid) - (Reward Cost + Servicing Cost)</a:t>
            </a:r>
            <a:br/>
            <a:br/>
            <a:r>
              <a:t>Customer Lifetime Value (LTV) = Annual Net Margin × [ 1 / (Churn Probability + Discount Rate) ]</a:t>
            </a:r>
            <a:br/>
            <a:br/>
            <a:r>
              <a:t>• Standard Tier LTV: ~$450 | Gold Tier LTV: ~$1,200 | Platinum LTV: ~$3,400 | Black Tier LTV: ~$8,900+</a:t>
            </a:r>
            <a:br/>
            <a:r>
              <a:t>• Demonstrates why losing a single Black/Platinum cardholder destroys thousands in future profit.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CHURN &amp; RETENTION ROI ENGINE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Retention Offer Matrix &amp; Targeted Effectiveness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24688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1. Fee Waiver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Cost: $95–$495</a:t>
            </a:r>
            <a:br/>
            <a:r>
              <a:t>• Target: Fee-friction users</a:t>
            </a:r>
            <a:br/>
            <a:r>
              <a:t>• Churn Reduction: Up to 45%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280160"/>
            <a:ext cx="24688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2. 2x Points Boost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Cost: 1.5% of spend</a:t>
            </a:r>
            <a:br/>
            <a:r>
              <a:t>• Target: High monthly spenders</a:t>
            </a:r>
            <a:br/>
            <a:r>
              <a:t>• Churn Reduction: Up to 38%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24688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3. APR Discount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Cost: $120 margin</a:t>
            </a:r>
            <a:br/>
            <a:r>
              <a:t>• Target: Revolving balance users</a:t>
            </a:r>
            <a:br/>
            <a:r>
              <a:t>• Churn Reduction: Up to 42%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280160"/>
            <a:ext cx="24688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4. VIP Perks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Cost: $150 fixed</a:t>
            </a:r>
            <a:br/>
            <a:r>
              <a:t>• Target: Platinum / Black tier</a:t>
            </a:r>
            <a:br/>
            <a:r>
              <a:t>• Churn Reduction: Up to 35%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CHURN &amp; RETENTION ROI ENGINE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ROI Simulation Engine: Campaign Financial 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Portfolio Financial Results</a:t>
            </a:r>
          </a:p>
          <a:p>
            <a:br/>
            <a:pPr>
              <a:defRPr sz="1400">
                <a:solidFill>
                  <a:srgbClr val="F1F5F9"/>
                </a:solidFill>
              </a:defRPr>
            </a:pPr>
            <a:r>
              <a:t>• Total At-Risk LTV (Unmitigated): $2.4M+</a:t>
            </a:r>
            <a:br/>
            <a:r>
              <a:t>• Optimized Campaign Budget: $250,000</a:t>
            </a:r>
            <a:br/>
            <a:r>
              <a:t>• Gross Retained LTV Saved: $1.15M+</a:t>
            </a:r>
            <a:br/>
            <a:r>
              <a:t>• Net Retained Profit Saved: $900,000+</a:t>
            </a:r>
            <a:br/>
            <a:r>
              <a:t>• Campaign Net ROI: 360%–450%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Strategic Takeaways</a:t>
            </a:r>
          </a:p>
          <a:p>
            <a:br/>
            <a:pPr>
              <a:defRPr sz="1400">
                <a:solidFill>
                  <a:srgbClr val="F1F5F9"/>
                </a:solidFill>
              </a:defRPr>
            </a:pPr>
            <a:r>
              <a:t>• Targeted optimization beats blanket discounts by 4.2x in net profit margin.</a:t>
            </a:r>
            <a:br/>
            <a:r>
              <a:t>• Budget allocation prioritized by Net ROI / Cost efficiency maximizes return under strict capital constraints.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CHURN &amp; RETENTION ROI ENGINE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Interactive Streamlit Strategy Dashboard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Operational Features for FinTech Product Managers</a:t>
            </a:r>
          </a:p>
          <a:p>
            <a:br/>
            <a:pPr>
              <a:defRPr sz="1400">
                <a:solidFill>
                  <a:srgbClr val="F1F5F9"/>
                </a:solidFill>
              </a:defRPr>
            </a:pPr>
            <a:r>
              <a:t>1. Executive Portfolio View: Live metrics on at-risk revenue, churn deciles, and tier distributions.</a:t>
            </a:r>
            <a:br/>
            <a:br/>
            <a:r>
              <a:t>2. Model &amp; SHAP Inspector: Visualizing global feature contributions and model calibration.</a:t>
            </a:r>
            <a:br/>
            <a:br/>
            <a:r>
              <a:t>3. Customer Lookup &amp; Recommendation Engine: Deep-dive into individual cardholders with automated offer suggestions.</a:t>
            </a:r>
            <a:br/>
            <a:br/>
            <a:r>
              <a:t>4. What-If ROI Simulator: Real-time budget sliders to test portfolio campaign scenarios.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CHURN &amp; RETENTION ROI ENGINE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Operational Rollout &amp; A/B Testing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CRM &amp; Email Integration</a:t>
            </a:r>
          </a:p>
          <a:p>
            <a:br/>
            <a:pPr>
              <a:defRPr sz="1400">
                <a:solidFill>
                  <a:srgbClr val="F1F5F9"/>
                </a:solidFill>
              </a:defRPr>
            </a:pPr>
            <a:r>
              <a:t>• Automated export of daily recommendations CSV to HubSpot / Salesforce Marketing Cloud.</a:t>
            </a:r>
            <a:br/>
            <a:r>
              <a:t>• Triggered email/in-app push notifications for high-risk decile customers.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A/B Test Experimentation Guardrails</a:t>
            </a:r>
          </a:p>
          <a:p>
            <a:br/>
            <a:pPr>
              <a:defRPr sz="1400">
                <a:solidFill>
                  <a:srgbClr val="F1F5F9"/>
                </a:solidFill>
              </a:defRPr>
            </a:pPr>
            <a:r>
              <a:t>• Control Group (15%): No retention offer dispatched (measures baseline churn lift).</a:t>
            </a:r>
            <a:br/>
            <a:r>
              <a:t>• Treatment Group (85%): Dynamic algorithmic offer assigned.</a:t>
            </a:r>
            <a:br/>
            <a:r>
              <a:t>• 60-Day Evaluation Window: Measure actual incremental LTV saved vs predicted.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CHURN &amp; RETENTION ROI ENGINE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Summary &amp; Next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Strategic Recommendations</a:t>
            </a:r>
          </a:p>
          <a:p>
            <a:br/>
            <a:pPr>
              <a:defRPr sz="1500">
                <a:solidFill>
                  <a:srgbClr val="F1F5F9"/>
                </a:solidFill>
              </a:defRPr>
            </a:pPr>
            <a:r>
              <a:t>1. Deploy XGBoost Churn Engine into daily batch production pipeline.</a:t>
            </a:r>
            <a:br/>
            <a:br/>
            <a:r>
              <a:t>2. Enable Automated Retention Offer Engine for top 2 risk deciles.</a:t>
            </a:r>
            <a:br/>
            <a:br/>
            <a:r>
              <a:t>3. Empower Customer Support agents with real-time SHAP churn triggers in support dashboard.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